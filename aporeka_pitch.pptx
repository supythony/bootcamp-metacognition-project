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365760"/>
            <a:ext cx="4114800" cy="4114800"/>
          </a:xfrm>
          <a:prstGeom prst="ellipse">
            <a:avLst/>
          </a:prstGeom>
          <a:solidFill>
            <a:srgbClr val="2A3E6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AI-RICH WORLD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Aporeka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DE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the thinking.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DE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the answer.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Socratic AI tutor grounded in Pólya's problem-solving method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teenagers, built for a world where AI does the easy work.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A3E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 Vibe Coding Task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109728" cy="4023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has solved access to answers.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what students can look up.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what they can do when the AI is wrong.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240280"/>
            <a:ext cx="265176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231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framing skills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submit problems to AI without understanding what they're actually asking.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2240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2240280"/>
            <a:ext cx="2651760" cy="54864"/>
          </a:xfrm>
          <a:prstGeom prst="rect">
            <a:avLst/>
          </a:prstGeom>
          <a:solidFill>
            <a:srgbClr val="E07B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4231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collapse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2044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causes students to systematically overestimate their own understanding.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63640" y="224028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2240280"/>
            <a:ext cx="2651760" cy="54864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42316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852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cognition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3246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scaffolding suppresses independent self-regulation — the skill most needed.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22" name="Text 17"/>
          <p:cNvSpPr/>
          <p:nvPr/>
        </p:nvSpPr>
        <p:spPr>
          <a:xfrm>
            <a:off x="8595360" y="109728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8F9FC"/>
                </a:solidFill>
              </a:rPr>
              <a:t>63%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8F9FC"/>
                </a:solidFill>
              </a:rPr>
              <a:t>of students can't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8F9FC"/>
                </a:solidFill>
              </a:rPr>
              <a:t>formulate a useful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8F9FC"/>
                </a:solidFill>
              </a:rPr>
              <a:t>AI prompt</a:t>
            </a:r>
            <a:endParaRPr lang="en-US" sz="100" dirty="0"/>
          </a:p>
        </p:txBody>
      </p:sp>
      <p:sp>
        <p:nvSpPr>
          <p:cNvPr id="23" name="Text 18"/>
          <p:cNvSpPr/>
          <p:nvPr/>
        </p:nvSpPr>
        <p:spPr>
          <a:xfrm rot="16200000">
            <a:off x="-13716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students can't formulate a useful AI prompt  ·  (W&amp;M, 2024)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open. It won't stay open.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5087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411480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Governments are asking the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9842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ministries globally are commissioning reviews on AI's impact on learning. The policy agenda exists; the products do not.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114800" cy="15087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154680"/>
            <a:ext cx="411480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hasn't caught 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6758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still test answer-recall. The gap between what is taught and what AI-rich work demands is widening every semester.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4114800" cy="15087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463040"/>
            <a:ext cx="411480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965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tutors exist — Socratic ones don't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98424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Khanmigo, Duolingo, Synthesis: all move the student through content. None train the metacognitive layer. The market is uncontested.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154680"/>
            <a:ext cx="4114800" cy="15087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54680"/>
            <a:ext cx="411480" cy="1508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657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base is here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67588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Pólya (1945), MetaTutor, K-12 RCT 2025 — 80 years of research on how thinking is built. Ready to apply. Not yet applied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109728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Aporeka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Socratic tutor for school students (13–18)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never gives the answer — and builds the thinking that lasts.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377440"/>
            <a:ext cx="54864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Discovery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72491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asks. The student answers. Never the reverse.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3200400"/>
            <a:ext cx="54864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246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Pólya Structure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54787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mirror 80 years of problem-solving research.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45720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023360"/>
            <a:ext cx="54864" cy="7132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69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Metacognitive Loop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370832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Calibration, reflection quality, understanding delta — measured every session.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548640"/>
            <a:ext cx="3383280" cy="438912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914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Aporia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760720" y="1691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productive state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genuinely stuck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before insight.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743200"/>
            <a:ext cx="2926080" cy="365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880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Eureka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760720" y="36118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discovery that follows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student figures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themselves.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phases. One loop. Built on 80 years of research.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2011680" cy="502920"/>
          </a:xfrm>
          <a:prstGeom prst="rect">
            <a:avLst/>
          </a:prstGeom>
          <a:solidFill>
            <a:srgbClr val="1E6091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231136"/>
            <a:ext cx="1828800" cy="27432"/>
          </a:xfrm>
          <a:prstGeom prst="rect">
            <a:avLst/>
          </a:prstGeom>
          <a:solidFill>
            <a:srgbClr val="1E609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60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Pólya: Understand the 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models likely misconceptions internally before asking. Student states initial understanding.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58568" y="1965960"/>
            <a:ext cx="14630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316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188720"/>
            <a:ext cx="20116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6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14600" y="2231136"/>
            <a:ext cx="18288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251460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Pólya: Devise a plan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14600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finds the sub-structure through questions. Tutor never lists steps.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53128" y="1965960"/>
            <a:ext cx="14630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188720"/>
            <a:ext cx="2011680" cy="502920"/>
          </a:xfrm>
          <a:prstGeom prst="rect">
            <a:avLst/>
          </a:prstGeom>
          <a:solidFill>
            <a:srgbClr val="0A7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231136"/>
            <a:ext cx="1828800" cy="27432"/>
          </a:xfrm>
          <a:prstGeom prst="rect">
            <a:avLst/>
          </a:prstGeom>
          <a:solidFill>
            <a:srgbClr val="0A7C5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Pólya: Carry it out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Five-level hint ladder. Pólya heuristics at levels 3–4. Tools produce data — student interprets.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47688" y="1965960"/>
            <a:ext cx="146304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118872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188720"/>
            <a:ext cx="2011680" cy="50292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85432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03720" y="2231136"/>
            <a:ext cx="1828800" cy="2743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Pólya: Look back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26974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synthesises. Tutor surfaces the delta: initial understanding vs. final articulation.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4709160"/>
            <a:ext cx="8686800" cy="256032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72744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E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Calibration: predict confidence → attempt → record outcome   ·   Reflection: shallow / decent / deep → quality evaluated every session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EVIDENCE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research. Measurable in session.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7373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19202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44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yrs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problem-solving research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(Pólya, 1945 → present)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1920240" cy="17373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325880"/>
            <a:ext cx="19202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444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wks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43200" y="2121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observable shift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decomposition skill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(SocraticAI, arXiv 2024)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1920240" cy="17373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25880"/>
            <a:ext cx="19202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44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2121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can't 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AI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(W&amp;M, 2024)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325880"/>
            <a:ext cx="1920240" cy="173736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325880"/>
            <a:ext cx="19202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444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outputs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132320" y="2121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delta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pattern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quality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session produces: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6393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understanding vs. final articulation — the understanding delta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398678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accuracy across subproblems — how well the student knows what they know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52544"/>
            <a:ext cx="201168" cy="2011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3342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quality score (shallow / decent / deep) — metacognitive depth over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2377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as buyer.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as proof.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Aporeka is designed for national deployment, not classroom-by-classroom adoption.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buyer is government — education ministries seeking evidence-based AI-literacy tools.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457200"/>
            <a:ext cx="1371600" cy="1920240"/>
          </a:xfrm>
          <a:prstGeom prst="rect">
            <a:avLst/>
          </a:prstGeom>
          <a:solidFill>
            <a:srgbClr val="1E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0" y="594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170432"/>
            <a:ext cx="118872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26187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buyer · Evidence-based policy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60920" y="457200"/>
            <a:ext cx="1371600" cy="19202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52360" y="594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Schools &amp; Teachers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170432"/>
            <a:ext cx="118872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7452360" y="126187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partners · Assessment integration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697480"/>
            <a:ext cx="1371600" cy="19202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3410712"/>
            <a:ext cx="1188720" cy="27432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0" y="350215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 · Understanding gap made visible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2697480"/>
            <a:ext cx="1371600" cy="1920240"/>
          </a:xfrm>
          <a:prstGeom prst="rect">
            <a:avLst/>
          </a:prstGeom>
          <a:solidFill>
            <a:srgbClr val="F8F9FC"/>
          </a:solidFill>
          <a:ln w="19050">
            <a:solidFill>
              <a:srgbClr val="1E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52360" y="28346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52360" y="3410712"/>
            <a:ext cx="1188720" cy="27432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3502152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· Agency and ownership in learning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2651760"/>
            <a:ext cx="4846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651760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26974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27157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3 schools, government-backed, 1 term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310128"/>
            <a:ext cx="4846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310128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35584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00200" y="33741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partnership: national curriculum integration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968496"/>
            <a:ext cx="4846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968496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0142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00200" y="40325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expansion: ASEAN / Commonwealth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858000" cy="86868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pilot cohort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schools, 1 term. We provide the platform, the data, and the analysis. You get evidence for policy.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6858000" cy="86868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9748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09067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curriculum researchers and assessment bodies to validate the thinking-trace outputs against learning outcomes.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6858000" cy="868680"/>
          </a:xfrm>
          <a:prstGeom prst="rect">
            <a:avLst/>
          </a:prstGeom>
          <a:solidFill>
            <a:srgbClr val="2A3E6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703320"/>
            <a:ext cx="54864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procurement pathway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965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building for individual teachers. We are building for national deployment. We need a buyer who thinks at that scale.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480560"/>
            <a:ext cx="9144000" cy="672084"/>
          </a:xfrm>
          <a:prstGeom prst="rect">
            <a:avLst/>
          </a:prstGeom>
          <a:solidFill>
            <a:srgbClr val="2A3E6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not the product. The thinking is.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Aporeka — Pitch Deck</dc:title>
  <dc:subject>PptxGenJS Presentation</dc:subject>
  <dc:creator>PptxGenJS</dc:creator>
  <cp:lastModifiedBy>PptxGenJS</cp:lastModifiedBy>
  <cp:revision>1</cp:revision>
  <dcterms:created xsi:type="dcterms:W3CDTF">2026-05-16T20:47:35Z</dcterms:created>
  <dcterms:modified xsi:type="dcterms:W3CDTF">2026-05-16T20:47:35Z</dcterms:modified>
</cp:coreProperties>
</file>